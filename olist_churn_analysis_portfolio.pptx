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29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701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full CRISP-DM project — 7 notebooks, 9 joined tables, built to production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 asymmetry framing is key: even at AUC 0.626, the model adds value if the breakeven ratio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complexity is a feature of this project, not a problem. Navigating it correctly is the skill being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join order matters enormously — payments must be aggregated before joining or you get row explosion. This is a real wrangling trap.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customer_id vs customer_unique_id is the #1 silent error on this dataset. Catching it separates careful analysts from those who just run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row inflation across all 7 left joins is a key data quality signal — confirms join keys are clean and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is where the real insights live on this project — the model results require context from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cutoff exclusion is critical — without it you would label customers who haven't had time to return as churned, biasing the label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split would let the model see December 2017 data in training while predicting November 2017 in test — temporal leakage. Time-based split is the methodologically correct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ceiling is in the data, not the model. LR winning over LightGBM tells you the signal is largely linear. More data and richer features are what this problem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ceiling is in the data. Tried LightGBM and Random Forest — LR won. That tells you the signal is largely linear. More data and richer features are what this problem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category drives 2× more SHAP than the next feature. The actionable insight is instalments: offer them, and customers come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model's real value isn't a binary prediction — it's a probability rank. Sort 74,000 customers by churn_proba, target the bottom 500 with your best offer, and measure lift.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AUC is a feature, not a bug. A recruiter who understands data science knows that 0.626 with a clean explanation is more credible than 0.92 without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4</a:t>
            </a:r>
          </a:p>
          <a:p>
            <a:pPr marL="0" indent="0">
              <a:buNone/>
            </a:pPr>
            <a:r>
              <a:rPr lang="en-US" sz="1000" b="1" kern="0" spc="400" dirty="0">
                <a:solidFill>
                  <a:srgbClr val="2E86AB"/>
                </a:solidFill>
                <a:latin typeface="Calibri" pitchFamily="34" charset="0"/>
                <a:cs typeface="Calibri" pitchFamily="34" charset="-120"/>
              </a:rPr>
              <a:t>DATA SCIENTIST : SEIHA VAT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 ·  Churn Prediction Pipeline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2788920"/>
            <a:ext cx="8138160" cy="3200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74,899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3756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churn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971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172200" y="34930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&amp; engineered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47548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 ·  NB00–NB07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Churn Prediction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548640" y="1399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3990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a marketplace aggregator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7335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list products; Olist handles logistics and payments. Acquiring a seller or customer has a cost — retention is cheaper than acquisition.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9" name="Text 7"/>
          <p:cNvSpPr/>
          <p:nvPr/>
        </p:nvSpPr>
        <p:spPr>
          <a:xfrm>
            <a:off x="54864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587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repurchase window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8620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for e-commerce; beyond 90 days a customer is structurally unlikely to return without intervention.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389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548640" y="3776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7764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asymmetry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05079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churner (FN) costs more than a false alarm (FP). Breakeven cost ratio = 0.61: if recovering one customer is worth &gt;0.61× the cost of an offer, the model adds value.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0640" y="1325880"/>
            <a:ext cx="3566160" cy="3566160"/>
          </a:xfrm>
          <a:prstGeom prst="rect">
            <a:avLst/>
          </a:prstGeom>
          <a:solidFill>
            <a:srgbClr val="1B2A4A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7" name="Text 15"/>
          <p:cNvSpPr/>
          <p:nvPr/>
        </p:nvSpPr>
        <p:spPr>
          <a:xfrm>
            <a:off x="5212080" y="1508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R$ 13,664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212080" y="19933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single order value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58775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2,801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212080" y="307238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&gt;1 order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666744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212080" y="4151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breakeven ratio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  ·  ~1.4M rows  ·  Complex joins  ·  Identity problem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Tables, One Customer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95937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959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72601" y="1188720"/>
            <a:ext cx="10058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7" name="Text 5"/>
          <p:cNvSpPr/>
          <p:nvPr/>
        </p:nvSpPr>
        <p:spPr>
          <a:xfrm>
            <a:off x="1672600" y="117957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188720"/>
            <a:ext cx="1078992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9" name="Text 7"/>
          <p:cNvSpPr/>
          <p:nvPr/>
        </p:nvSpPr>
        <p:spPr>
          <a:xfrm>
            <a:off x="2934470" y="1176578"/>
            <a:ext cx="1078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order_payments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68599" y="1182799"/>
            <a:ext cx="907804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1" name="Text 9"/>
          <p:cNvSpPr/>
          <p:nvPr/>
        </p:nvSpPr>
        <p:spPr>
          <a:xfrm>
            <a:off x="4260209" y="1198127"/>
            <a:ext cx="90780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order_reviews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31536" y="1197977"/>
            <a:ext cx="978408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5423151" y="1188720"/>
            <a:ext cx="99518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95937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5" name="Text 13"/>
          <p:cNvSpPr/>
          <p:nvPr/>
        </p:nvSpPr>
        <p:spPr>
          <a:xfrm>
            <a:off x="457200" y="2057400"/>
            <a:ext cx="95937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72600" y="2057400"/>
            <a:ext cx="100584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7" name="Text 15"/>
          <p:cNvSpPr/>
          <p:nvPr/>
        </p:nvSpPr>
        <p:spPr>
          <a:xfrm>
            <a:off x="1672600" y="205740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25328" y="2057400"/>
            <a:ext cx="1088134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9" name="Text 17"/>
          <p:cNvSpPr/>
          <p:nvPr/>
        </p:nvSpPr>
        <p:spPr>
          <a:xfrm>
            <a:off x="2925328" y="2057400"/>
            <a:ext cx="108813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68599" y="2063321"/>
            <a:ext cx="1154552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1" name="Text 19"/>
          <p:cNvSpPr/>
          <p:nvPr/>
        </p:nvSpPr>
        <p:spPr>
          <a:xfrm>
            <a:off x="4253614" y="2057400"/>
            <a:ext cx="1169537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cat_translation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84688" y="1188719"/>
            <a:ext cx="1828800" cy="1252721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3" name="Text 21"/>
          <p:cNvSpPr/>
          <p:nvPr/>
        </p:nvSpPr>
        <p:spPr>
          <a:xfrm>
            <a:off x="6876299" y="1176578"/>
            <a:ext cx="1837190" cy="1264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02_master_table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18329" y="1582025"/>
            <a:ext cx="457969" cy="31992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25" name="Shape 23"/>
          <p:cNvSpPr/>
          <p:nvPr/>
        </p:nvSpPr>
        <p:spPr>
          <a:xfrm flipV="1">
            <a:off x="5423151" y="1901951"/>
            <a:ext cx="1461537" cy="332296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7" name="Text 25"/>
          <p:cNvSpPr/>
          <p:nvPr/>
        </p:nvSpPr>
        <p:spPr>
          <a:xfrm>
            <a:off x="548640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≠ customer_unique_id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27355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creates a new customer_id; only customer_unique_id tracks the true person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55848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30" name="Text 28"/>
          <p:cNvSpPr/>
          <p:nvPr/>
        </p:nvSpPr>
        <p:spPr>
          <a:xfrm>
            <a:off x="3447288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multi-row per order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47288" y="327355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aggregate before joining — voucher + credit card splits inflate row counts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54496" y="2880360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33" name="Text 31"/>
          <p:cNvSpPr/>
          <p:nvPr/>
        </p:nvSpPr>
        <p:spPr>
          <a:xfrm>
            <a:off x="6345936" y="294436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Geolocation: ~1M rows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45936" y="3273552"/>
            <a:ext cx="2514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Deduplicated to 19,015 zip→state pairs before joining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customer_id Trap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572000" cy="2377440"/>
          </a:xfrm>
          <a:prstGeom prst="rect">
            <a:avLst/>
          </a:prstGeom>
          <a:solidFill>
            <a:srgbClr val="1B2A4A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429768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orders.customer_id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order-scoped (new ID per order)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customers.customer_id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join key only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customer_unique_id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TRUE customer identity</a:t>
            </a: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with 5 orders has: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5 different customer_ids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customer_unique_id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57800" y="1280160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7" name="Text 5"/>
          <p:cNvSpPr/>
          <p:nvPr/>
        </p:nvSpPr>
        <p:spPr>
          <a:xfrm>
            <a:off x="5349240" y="131673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14447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57800" y="2103120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0" name="Text 8"/>
          <p:cNvSpPr/>
          <p:nvPr/>
        </p:nvSpPr>
        <p:spPr>
          <a:xfrm>
            <a:off x="5349240" y="213969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93,358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2677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 (after dedup)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2926080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5349240" y="2962656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83680" y="30906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customer_ids avoided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3840480"/>
            <a:ext cx="3429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E8A8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6" name="Text 14"/>
          <p:cNvSpPr/>
          <p:nvPr/>
        </p:nvSpPr>
        <p:spPr>
          <a:xfrm>
            <a:off x="5349240" y="388620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customer_id for groupby would produce silently wrong retention rates — the most common wrangling error on this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a Clean Master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80744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delivered orders — 99,441 → 96,478 rows (2,963 non-delivered excluded)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7393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payments — multi-row → one row per order: total_payment_value, max_installments, used_voucher, primary_payment_type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1" name="Text 9"/>
          <p:cNvSpPr/>
          <p:nvPr/>
        </p:nvSpPr>
        <p:spPr>
          <a:xfrm>
            <a:off x="457200" y="2276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22199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geolocation — ~1M rows → 19,015 zip→state pairs via modal state per zip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70048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reviews — keep latest review per order; add has_review binary flag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7" name="Text 15"/>
          <p:cNvSpPr/>
          <p:nvPr/>
        </p:nvSpPr>
        <p:spPr>
          <a:xfrm>
            <a:off x="457200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18104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items — item_count, total_freight, avg_item_price, n_unique_sellers per order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21024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457200" y="3621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566160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all tables — left joins from orders anchor outward; zero row inflation across 7 joins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4014216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customer level — 96,478 orders → 93,358 unique customers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517136"/>
            <a:ext cx="329184" cy="329184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6" name="Text 24"/>
          <p:cNvSpPr/>
          <p:nvPr/>
        </p:nvSpPr>
        <p:spPr>
          <a:xfrm>
            <a:off x="457200" y="45171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462272"/>
            <a:ext cx="5029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cutoff exclusion — 93,358 → 74,899 eligible (18,459 excluded: last order after 2018-05-31)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325880"/>
            <a:ext cx="2743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 anchor="ctr"/>
          <a:lstStyle/>
          <a:p>
            <a:endParaRPr lang="en-KH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538827"/>
              </p:ext>
            </p:extLst>
          </p:nvPr>
        </p:nvGraphicFramePr>
        <p:xfrm>
          <a:off x="6172200" y="1371600"/>
          <a:ext cx="2651760" cy="30175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 filter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99,441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 left joins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Collapse to customer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96,478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Cutoff exclusion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74,899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modelling, what does the dataset actually tell us?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&amp; Constructing the Churn Label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16736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40280" y="1280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2018-08-29 — max delivered order date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956816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 date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9202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2018-05-31 — dataset_end − 90 days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0280" y="25603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last_order_date ≤ cutoff_date — customer had time to return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240280" y="32004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subsequent delivered order within 90 days of last order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36576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40280" y="38404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consecutive order gap ≤ 90 days (consecutive-gap method)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1280160"/>
            <a:ext cx="1828800" cy="9144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52578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74,899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57800" y="1801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69480" y="1280160"/>
            <a:ext cx="1828800" cy="9144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3" name="Text 21"/>
          <p:cNvSpPr/>
          <p:nvPr/>
        </p:nvSpPr>
        <p:spPr>
          <a:xfrm>
            <a:off x="726948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97.82%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269480" y="1801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57800" y="2331720"/>
            <a:ext cx="1828800" cy="9144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6" name="Text 24"/>
          <p:cNvSpPr/>
          <p:nvPr/>
        </p:nvSpPr>
        <p:spPr>
          <a:xfrm>
            <a:off x="525780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2,801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257800" y="2852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&gt;1 order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69480" y="2331720"/>
            <a:ext cx="1828800" cy="91440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9" name="Text 27"/>
          <p:cNvSpPr/>
          <p:nvPr/>
        </p:nvSpPr>
        <p:spPr>
          <a:xfrm>
            <a:off x="7269480" y="2377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269480" y="28529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 window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90 days? Shorter windows (60d) over-label seasonal buyers as churned; longer windows (120d) shrink the eligible pool too aggressively. 90 days maximises label reliability given the 25-month dataset span.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Varies — But Narrowly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389120" cy="3291840"/>
          </a:xfrm>
          <a:prstGeom prst="rect">
            <a:avLst/>
          </a:prstGeom>
          <a:solidFill>
            <a:srgbClr val="E8EDF4"/>
          </a:solidFill>
          <a:ln w="1905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KH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3891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Churn rate by product category — top 15 categories, horizontal bar chart]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28016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7" name="Text 5"/>
          <p:cNvSpPr/>
          <p:nvPr/>
        </p:nvSpPr>
        <p:spPr>
          <a:xfrm>
            <a:off x="5074920" y="13533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132588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is widest driver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32120" y="155448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bed_bath_table (96.2%) vs cool_stuff (98.9%) — 2.73pp gap, the largest single categorical spread found.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0" y="210312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1" name="Text 9"/>
          <p:cNvSpPr/>
          <p:nvPr/>
        </p:nvSpPr>
        <p:spPr>
          <a:xfrm>
            <a:off x="5074920" y="2176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💳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32120" y="214884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users churn less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532120" y="237744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95.65% vs 97.86% — counter-intuitive; voucher users are more engaged shoppers.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0" y="292608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5" name="Text 13"/>
          <p:cNvSpPr/>
          <p:nvPr/>
        </p:nvSpPr>
        <p:spPr>
          <a:xfrm>
            <a:off x="5074920" y="29992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32120" y="29718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 is protective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532120" y="320040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Single-item orders: 97.92% churn; 3+ item orders: ~96%.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0" y="3749040"/>
            <a:ext cx="3840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9" name="Text 17"/>
          <p:cNvSpPr/>
          <p:nvPr/>
        </p:nvSpPr>
        <p:spPr>
          <a:xfrm>
            <a:off x="5074920" y="3822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32120" y="379476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matters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32120" y="40233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churn rates range from 96.8% (MT) to 100% (RR).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3" name="Text 21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range across all variables is ≤3pp — the dataset has a structural churn ceiling near 97%. This is real behaviour, not a data quality issue.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9FBF316-9084-17D0-8112-324556D48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38912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Experience: A Surprising Pattern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solidFill>
            <a:srgbClr val="E8EDF4"/>
          </a:solidFill>
          <a:ln w="1905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Churn rate by delivery delay bucket (Early / On-time / Late / Very late)]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00600" y="1280160"/>
            <a:ext cx="4114800" cy="2286000"/>
          </a:xfrm>
          <a:prstGeom prst="rect">
            <a:avLst/>
          </a:prstGeom>
          <a:solidFill>
            <a:srgbClr val="E8EDF4"/>
          </a:solidFill>
          <a:ln w="1905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7" name="Text 5"/>
          <p:cNvSpPr/>
          <p:nvPr/>
        </p:nvSpPr>
        <p:spPr>
          <a:xfrm>
            <a:off x="4800600" y="128016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Churn rate by review score (1–5 stars)]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4904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9" name="Text 7"/>
          <p:cNvSpPr/>
          <p:nvPr/>
        </p:nvSpPr>
        <p:spPr>
          <a:xfrm>
            <a:off x="566928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4069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91.2% of orders arrived early. On-time (0–2d) customers churn least (97.48%); early arrivals churn slightly more (97.80%). The relationship is non-monotonic — delivery delay alone is not a reliable churn predictor.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3749040"/>
            <a:ext cx="40690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2" name="Text 10"/>
          <p:cNvSpPr/>
          <p:nvPr/>
        </p:nvSpPr>
        <p:spPr>
          <a:xfrm>
            <a:off x="4910328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0328" y="4069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range is only 0.29pp (97.75%–98.04%). No monotonic relationship. r_pb = −0.0024, p = 0.51 — statistically indistinguishable from noise.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6AE4DA7-1A7F-AB97-227B-B7A239E59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114800" cy="2286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1E4F8EB-2974-70CD-0095-A2B6D37C5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285" y="1280160"/>
            <a:ext cx="410811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features across 7 groups — from raw tables to model-ready signals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28 Raw Columns to 27 Engineered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566928" y="1289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2893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5636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3 features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recency_days, is_weekend_purchase, approval_delay_days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55848" y="123444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0" name="Text 8"/>
          <p:cNvSpPr/>
          <p:nvPr/>
        </p:nvSpPr>
        <p:spPr>
          <a:xfrm>
            <a:off x="3465576" y="1289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50208" y="12893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Experience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50208" y="15636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65576" y="182880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delivery_delay_days, freight_to_price_ratio, is_cross_state_order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23444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5" name="Text 13"/>
          <p:cNvSpPr/>
          <p:nvPr/>
        </p:nvSpPr>
        <p:spPr>
          <a:xfrm>
            <a:off x="6364224" y="1289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48856" y="12893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Complexity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48856" y="156362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 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64224" y="182880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item_count, max_installments, used_voucher, multi_payment_method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566928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💵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51560" y="27066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(log-transformed)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9809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6928" y="324612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log_avg_item_price, log_total_payment_value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26517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5" name="Text 23"/>
          <p:cNvSpPr/>
          <p:nvPr/>
        </p:nvSpPr>
        <p:spPr>
          <a:xfrm>
            <a:off x="3465576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950208" y="27066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50208" y="29809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 features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65576" y="324612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review_score, has_negative_review, has_positive_review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54496" y="265176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30" name="Text 28"/>
          <p:cNvSpPr/>
          <p:nvPr/>
        </p:nvSpPr>
        <p:spPr>
          <a:xfrm>
            <a:off x="6364224" y="2706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🛍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848856" y="27066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8856" y="298094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3246120"/>
            <a:ext cx="24963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category_churn_rate (target encoded)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069080"/>
            <a:ext cx="2697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 dirty="0"/>
          </a:p>
        </p:txBody>
      </p:sp>
      <p:sp>
        <p:nvSpPr>
          <p:cNvPr id="35" name="Text 33"/>
          <p:cNvSpPr/>
          <p:nvPr/>
        </p:nvSpPr>
        <p:spPr>
          <a:xfrm>
            <a:off x="566928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🌎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51560" y="402263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420479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 features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" y="4384909"/>
            <a:ext cx="2496312" cy="264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state_churn_rate, seller_state_churn_rate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features log1p-transformed (3.78–4.84% extreme outliers). Target encoding for category and state — ⚠️ recomputed on training set only in NB05 to prevent label leakage.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  ·  3 candidate models  ·  Optuna tuning  ·  SHAP explainability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Why Each Decision Was Made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Split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random)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&lt; 2018-04-01  |  Test ≥ 2018-04-01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splitting would leak future purchase behaviour into training. Time-based split respects the temporal nature of churn.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4526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61,696 customers  ·  Test: 13,203 customers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55848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0" name="Text 8"/>
          <p:cNvSpPr/>
          <p:nvPr/>
        </p:nvSpPr>
        <p:spPr>
          <a:xfrm>
            <a:off x="3465576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65576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65576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tested but discarded — synthetic minority oversampling inflated metrics without improving real-world discrimination.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 weights applied to all models.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65576" y="45262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: Retained = 53 : 1 in training data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54496" y="12344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5" name="Text 13"/>
          <p:cNvSpPr/>
          <p:nvPr/>
        </p:nvSpPr>
        <p:spPr>
          <a:xfrm>
            <a:off x="6364224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64224" y="187452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4224" y="237744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Logistic Regression — interpretable baseline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Random Forest — non-linear ensemble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LightGBM — gradient boosting (primary candidate)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winning model with Optuna (50 trials, ROC-AUC objective)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The Honest Results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182993"/>
              </p:ext>
            </p:extLst>
          </p:nvPr>
        </p:nvGraphicFramePr>
        <p:xfrm>
          <a:off x="457200" y="1280160"/>
          <a:ext cx="8412480" cy="1371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 LR (winner)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63440"/>
            <a:ext cx="841248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0" name="Text 7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wins: higher ROC-AUC and recall than RF and LightGBM despite being the simplest model. Signal in this dataset is largely linear.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F0BDD0-AD45-1144-A99D-D20E0BCF6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86" y="2692533"/>
            <a:ext cx="2884760" cy="193433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D0274B3-DEBE-2E40-29FF-9C2B50F23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173" y="2688336"/>
            <a:ext cx="2680001" cy="19230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0.626? The Dataset Ceiling Explained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9748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9164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feature-target correlation: r = 0.07 (item_count)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216712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r_max = 0.07, theoretical AUC ceiling ≈ 0.65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642616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retained customers in test set = extremely sparse minority class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311810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model failure — it is a fundamental property of the data generating process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55848" y="1234440"/>
            <a:ext cx="269748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A8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2" name="Shape 10"/>
          <p:cNvSpPr/>
          <p:nvPr/>
        </p:nvSpPr>
        <p:spPr>
          <a:xfrm>
            <a:off x="3355848" y="1234440"/>
            <a:ext cx="2697480" cy="3840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3447288" y="1234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Reality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65576" y="169164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97.82% of Olist customers buy exactly once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216712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for general merchandise marketplaces (not subscription)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65576" y="2642616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discover Olist via a specific product, buy it, and may never have a reason to return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65576" y="311810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intent is not encoded in a single transaction record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54496" y="1234440"/>
            <a:ext cx="2697480" cy="3611880"/>
          </a:xfrm>
          <a:prstGeom prst="rect">
            <a:avLst/>
          </a:prstGeom>
          <a:solidFill>
            <a:srgbClr val="FFFFFF"/>
          </a:solidFill>
          <a:ln w="25400">
            <a:solidFill>
              <a:srgbClr val="5CB85C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9" name="Shape 17"/>
          <p:cNvSpPr/>
          <p:nvPr/>
        </p:nvSpPr>
        <p:spPr>
          <a:xfrm>
            <a:off x="6254496" y="1234440"/>
            <a:ext cx="2697480" cy="38404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6345936" y="12344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Actually Help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64224" y="169164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/ session history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64224" y="2167128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engagement signals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64224" y="2642616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/ refund history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3118104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purchase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3593592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affinity from search behaviour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4069080"/>
            <a:ext cx="2487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richer feature set, not a better algorithm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E86A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Tells 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 ·  Risk segmentation  ·  Actionable signals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Levers of Churn Risk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434840" cy="3566160"/>
          </a:xfrm>
          <a:prstGeom prst="rect">
            <a:avLst/>
          </a:prstGeom>
          <a:solidFill>
            <a:srgbClr val="E8EDF4"/>
          </a:solidFill>
          <a:ln w="1905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SHAP feature importance bar chart (mean |SHAP|), top 10 features]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120640" y="1280160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7" name="Shape 5"/>
          <p:cNvSpPr/>
          <p:nvPr/>
        </p:nvSpPr>
        <p:spPr>
          <a:xfrm>
            <a:off x="5120640" y="1280160"/>
            <a:ext cx="6400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8" name="Text 6"/>
          <p:cNvSpPr/>
          <p:nvPr/>
        </p:nvSpPr>
        <p:spPr>
          <a:xfrm>
            <a:off x="5120640" y="128016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33872" y="133502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33872" y="1591056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bought matters most — lifestyle/home goods retain better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0" y="2029968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2" name="Shape 10"/>
          <p:cNvSpPr/>
          <p:nvPr/>
        </p:nvSpPr>
        <p:spPr>
          <a:xfrm>
            <a:off x="5120640" y="2029968"/>
            <a:ext cx="6400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3" name="Text 11"/>
          <p:cNvSpPr/>
          <p:nvPr/>
        </p:nvSpPr>
        <p:spPr>
          <a:xfrm>
            <a:off x="5120640" y="202996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33872" y="208483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instalments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33872" y="234086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instalments = less churn. Offering instalment options is actionable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20640" y="2779776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7" name="Shape 15"/>
          <p:cNvSpPr/>
          <p:nvPr/>
        </p:nvSpPr>
        <p:spPr>
          <a:xfrm>
            <a:off x="5120640" y="2779776"/>
            <a:ext cx="6400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18" name="Text 16"/>
          <p:cNvSpPr/>
          <p:nvPr/>
        </p:nvSpPr>
        <p:spPr>
          <a:xfrm>
            <a:off x="5120640" y="277977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33872" y="283464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geography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33872" y="3090672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in certain states have structurally higher-churn customer bases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120640" y="3529584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2" name="Shape 20"/>
          <p:cNvSpPr/>
          <p:nvPr/>
        </p:nvSpPr>
        <p:spPr>
          <a:xfrm>
            <a:off x="5120640" y="3529584"/>
            <a:ext cx="6400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3" name="Text 21"/>
          <p:cNvSpPr/>
          <p:nvPr/>
        </p:nvSpPr>
        <p:spPr>
          <a:xfrm>
            <a:off x="5120640" y="352958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833872" y="3584448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price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33872" y="3840480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Higher-priced one-off purchases signal discretionary, non-repeat buying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427939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27" name="Shape 25"/>
          <p:cNvSpPr/>
          <p:nvPr/>
        </p:nvSpPr>
        <p:spPr>
          <a:xfrm>
            <a:off x="5120640" y="4279392"/>
            <a:ext cx="6400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8" name="Text 26"/>
          <p:cNvSpPr/>
          <p:nvPr/>
        </p:nvSpPr>
        <p:spPr>
          <a:xfrm>
            <a:off x="5120640" y="427939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833872" y="4334256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33872" y="4590288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retention patterns exist across Brazil's 27 states</a:t>
            </a:r>
            <a:endParaRPr lang="en-US" sz="9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D1B5BA8-E0B0-3033-87EA-70ABB7F96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44348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77240"/>
            <a:ext cx="64008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Segmentation: What the Model Can Do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solidFill>
            <a:srgbClr val="E8EDF4"/>
          </a:solidFill>
          <a:ln w="19050">
            <a:solidFill>
              <a:srgbClr val="2E86AB"/>
            </a:solidFill>
            <a:prstDash val="dash"/>
          </a:ln>
        </p:spPr>
        <p:txBody>
          <a:bodyPr/>
          <a:lstStyle/>
          <a:p>
            <a:endParaRPr lang="en-K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Risk tier distribution (n customers) + actual churn rate by tier, side-by-side bar charts]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864242"/>
              </p:ext>
            </p:extLst>
          </p:nvPr>
        </p:nvGraphicFramePr>
        <p:xfrm>
          <a:off x="4800600" y="1280160"/>
          <a:ext cx="4114800" cy="2225040"/>
        </p:xfrm>
        <a:graphic>
          <a:graphicData uri="http://schemas.openxmlformats.org/drawingml/2006/table">
            <a:tbl>
              <a:tblPr/>
              <a:tblGrid>
                <a:gridCol w="1145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instal.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 (≥0.80)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Low-cost re-engagement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Risk (0.50–0.80)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98.80%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by score; targeted vouchers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Risk (&lt;0.50)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5,588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decile = premium outreach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566160"/>
            <a:ext cx="8412480" cy="685800"/>
          </a:xfrm>
          <a:prstGeom prst="rect">
            <a:avLst/>
          </a:prstGeom>
          <a:solidFill>
            <a:srgbClr val="1B2A4A"/>
          </a:solidFill>
          <a:ln w="25400">
            <a:solidFill>
              <a:srgbClr val="E8A83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8" name="Text 5"/>
          <p:cNvSpPr/>
          <p:nvPr/>
        </p:nvSpPr>
        <p:spPr>
          <a:xfrm>
            <a:off x="594360" y="361188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No threshold achieves precision above the 1.84% retention baseline at scale. Use churn_proba as a continuous rank, not a binary classifier, for campaign prioritisation.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insight — voucher users in Low Risk tier show 5.3% voucher usage vs 0% in High Risk, suggesting engaged shoppers self-select into lower-risk behaviour.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7ED7F5-1E18-2CCC-4FDB-6D7DF6E94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59"/>
            <a:ext cx="4115920" cy="21031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41732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78992" y="1188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Rigour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8992" y="14813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9 tables across 1.4M+ rows; resolved customer identity; engineered 27 features with documented leakage controls; time-based train/test split.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92040" y="1097280"/>
            <a:ext cx="4114800" cy="141732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8" name="Text 6"/>
          <p:cNvSpPr/>
          <p:nvPr/>
        </p:nvSpPr>
        <p:spPr>
          <a:xfrm>
            <a:off x="5001768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513832" y="11887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13832" y="14813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did not hit AUC ≥ 0.75. The evaluation explains why — signal ceiling, class imbalance, dataset structure. AUC = 0.626 with a clear justification is more credible than 0.91 without one.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4114800" cy="141732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2" name="Text 10"/>
          <p:cNvSpPr/>
          <p:nvPr/>
        </p:nvSpPr>
        <p:spPr>
          <a:xfrm>
            <a:off x="566928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78992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0815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LinearExplainer applied to 13,203 customers. Top driver: product category (mean |SHAP| = 0.317). Individual waterfall analysis. Every finding grounded in EDA numbers.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2697480"/>
            <a:ext cx="4114800" cy="1417320"/>
          </a:xfrm>
          <a:prstGeom prst="rect">
            <a:avLst/>
          </a:prstGeom>
          <a:solidFill>
            <a:srgbClr val="243352"/>
          </a:solidFill>
          <a:ln w="12700">
            <a:solidFill>
              <a:srgbClr val="2E86A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KH"/>
          </a:p>
        </p:txBody>
      </p:sp>
      <p:sp>
        <p:nvSpPr>
          <p:cNvPr id="16" name="Text 14"/>
          <p:cNvSpPr/>
          <p:nvPr/>
        </p:nvSpPr>
        <p:spPr>
          <a:xfrm>
            <a:off x="5001768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513832" y="27889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3832" y="308152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ratio 0.61 — model adds value even at modest AUC. Risk tier profiles with specific intervention recommendations. Limitations and next steps documented.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8412480" cy="3200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KH"/>
          </a:p>
        </p:txBody>
      </p:sp>
      <p:sp>
        <p:nvSpPr>
          <p:cNvPr id="20" name="Text 18"/>
          <p:cNvSpPr/>
          <p:nvPr/>
        </p:nvSpPr>
        <p:spPr>
          <a:xfrm>
            <a:off x="502920" y="4544568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Survival analysis for time-to-churn  ·  NLP on review text  ·  Seller-side churn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70426" y="4544568"/>
            <a:ext cx="19906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/vatsun07-web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2302</Words>
  <Application>Microsoft Macintosh PowerPoint</Application>
  <PresentationFormat>On-screen Show (16:9)</PresentationFormat>
  <Paragraphs>332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Risk Analysis — Olist</dc:title>
  <dc:subject>PptxGenJS Presentation</dc:subject>
  <dc:creator>Portfolio Project 4</dc:creator>
  <cp:lastModifiedBy>Seiha Vat</cp:lastModifiedBy>
  <cp:revision>2</cp:revision>
  <dcterms:created xsi:type="dcterms:W3CDTF">2026-05-30T05:05:39Z</dcterms:created>
  <dcterms:modified xsi:type="dcterms:W3CDTF">2026-05-30T06:31:49Z</dcterms:modified>
</cp:coreProperties>
</file>